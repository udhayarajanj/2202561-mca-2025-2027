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4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E2990-433C-460D-A629-F446BC2199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2009DE-E632-455A-8117-9AC651A351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9C2E42-A860-43D9-896A-F6447097F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9464A-2205-4CFA-A5A2-8927DD75699D}" type="datetimeFigureOut">
              <a:rPr lang="en-IN" smtClean="0"/>
              <a:t>2025-11-29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163D10-ED33-47A0-982E-5C90E5E34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D713D-1688-496C-8E94-406A728A4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FFD19-1A14-4439-AE7E-2DD517DF6E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963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A8B38-2E91-4C08-B495-A6E77AAC9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6A132-5551-4E5E-85E2-8C8EBE405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0CE591-1F9C-4596-A24B-70CDED9E8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9464A-2205-4CFA-A5A2-8927DD75699D}" type="datetimeFigureOut">
              <a:rPr lang="en-IN" smtClean="0"/>
              <a:t>2025-11-29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FFA7C-6913-4CDF-89BD-532B79BE2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3A10D0-30D4-4811-977A-56692220F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FFD19-1A14-4439-AE7E-2DD517DF6E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5307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C118C-13EC-4EA0-A210-3D7E1C8F2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2E435C-7991-4B75-BD8D-BCF6E83864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758AE8-DD5D-4555-95B4-2FDBC3737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9464A-2205-4CFA-A5A2-8927DD75699D}" type="datetimeFigureOut">
              <a:rPr lang="en-IN" smtClean="0"/>
              <a:t>2025-11-29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87509E-2DE6-4B0F-A2D6-6E7917324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3CD1C-4414-426D-BDDB-EA06F5C8B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FFD19-1A14-4439-AE7E-2DD517DF6E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8469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E8AEA-5098-40DE-BE94-FEFF94112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71D9D-5724-4747-8AD0-60287B75BB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132742-3A82-4994-8E36-4502EECE74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65B3F6-67D1-43D7-99B0-E7975404A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9464A-2205-4CFA-A5A2-8927DD75699D}" type="datetimeFigureOut">
              <a:rPr lang="en-IN" smtClean="0"/>
              <a:t>2025-11-29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E7D8A0-1058-4EF8-920E-360D0A323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8DD85E-92E4-446A-BC52-C37A5ED0D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FFD19-1A14-4439-AE7E-2DD517DF6E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1830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868AE-B90D-44B9-94EB-24574FBFC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104ADF-410C-4B15-B23A-4A6C318C90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09504C-40BC-42FE-8DC2-54E8C55D00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C87229-2BE4-43F5-AB28-B3CD2F05CC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48AF35-2ACA-4A9E-8D9C-015B21FF0F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79DFD-D572-4A81-A67D-427626582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9464A-2205-4CFA-A5A2-8927DD75699D}" type="datetimeFigureOut">
              <a:rPr lang="en-IN" smtClean="0"/>
              <a:t>2025-11-29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A902A9-7118-4406-9C44-BE17020D1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66D210-9A54-4219-9215-CF2E310CC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FFD19-1A14-4439-AE7E-2DD517DF6E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5289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0C27A-582D-4E30-80B7-F71E5F631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E57FDD-04E1-493F-A091-23654DE58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9464A-2205-4CFA-A5A2-8927DD75699D}" type="datetimeFigureOut">
              <a:rPr lang="en-IN" smtClean="0"/>
              <a:t>2025-11-29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BA3B26-5E57-4FDE-9827-FF3090802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E31426-5C2E-4D47-A68C-3873CFA0C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FFD19-1A14-4439-AE7E-2DD517DF6E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10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BB18D8-6105-4AEB-B6CF-B4E798382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9464A-2205-4CFA-A5A2-8927DD75699D}" type="datetimeFigureOut">
              <a:rPr lang="en-IN" smtClean="0"/>
              <a:t>2025-11-29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A0BD99-0682-4D04-BE25-B7ED22031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F4D024-C25A-4473-9D23-89973E974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FFD19-1A14-4439-AE7E-2DD517DF6E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526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1A5C0-BEFC-41CB-AED2-89D3358E2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3DCA8-CB4B-490E-8671-BB7466AA26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8069CA-BE00-49B1-8DBB-1DBBB1B6A9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838E1-8F64-409E-B7E3-AAEC29437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9464A-2205-4CFA-A5A2-8927DD75699D}" type="datetimeFigureOut">
              <a:rPr lang="en-IN" smtClean="0"/>
              <a:t>2025-11-29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A85E13-EB03-4116-91C5-46A8F2335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6108C2-E205-48C5-B003-F82EFCBDD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FFD19-1A14-4439-AE7E-2DD517DF6E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1354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63670-B826-4CF9-AFEB-DAE32ED0D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9E0959-DC9E-4105-8CAD-381F50D8DC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7D2E56-B1FA-4E2D-9EA0-235E085E88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568E5F-C865-4D80-BF69-F1E01B51C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9464A-2205-4CFA-A5A2-8927DD75699D}" type="datetimeFigureOut">
              <a:rPr lang="en-IN" smtClean="0"/>
              <a:t>2025-11-29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3350D2-91F1-431A-B5E3-7ECB3FD49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4F9595-3057-4CD6-8C9F-B802BEC6B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FFD19-1A14-4439-AE7E-2DD517DF6E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3843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1F899-67E4-4C64-A125-8A863E57B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0A9EB1-F0C4-4D39-BE98-6E88F09165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251A1-CC32-4D06-B2F4-9220B58E9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9464A-2205-4CFA-A5A2-8927DD75699D}" type="datetimeFigureOut">
              <a:rPr lang="en-IN" smtClean="0"/>
              <a:t>2025-11-29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DE56B-9145-43B8-926F-CE161DEE3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BBC080-05AF-4725-B0C6-413EE8A48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FFD19-1A14-4439-AE7E-2DD517DF6E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3991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C9192A-F73A-4036-AA47-D60CE24F77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BC1040-BBAE-4271-9F93-2F4003E3A7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5A38F6-A663-4ADC-AE74-212FED3CF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9464A-2205-4CFA-A5A2-8927DD75699D}" type="datetimeFigureOut">
              <a:rPr lang="en-IN" smtClean="0"/>
              <a:t>2025-11-29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63BAD5-C7F8-4CC6-B563-A200F2E6E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23199F-81C4-46F5-BC8A-DBA0CB447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FFD19-1A14-4439-AE7E-2DD517DF6E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8528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8C7883-9BAA-4EC5-845B-AA9820B79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81A8FE-A75B-43BA-AFFC-DFD4203B94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AD8526-692D-4E8C-90E2-72C1477A75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79464A-2205-4CFA-A5A2-8927DD75699D}" type="datetimeFigureOut">
              <a:rPr lang="en-IN" smtClean="0"/>
              <a:t>2025-11-29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BDFFD-0D82-428B-8332-C9F7798EF5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6E7EBB-C7A4-4C8B-ADAB-68BF200B6D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1FFD19-1A14-4439-AE7E-2DD517DF6E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4346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roject management. Marketing analysis and development online ...">
            <a:extLst>
              <a:ext uri="{FF2B5EF4-FFF2-40B4-BE49-F238E27FC236}">
                <a16:creationId xmlns:a16="http://schemas.microsoft.com/office/drawing/2014/main" id="{3DA26006-A839-4841-98A4-D1D207116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8752" y="1124158"/>
            <a:ext cx="6703248" cy="4609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D7621AE1-977D-4411-A919-0E86518E75D6}"/>
              </a:ext>
            </a:extLst>
          </p:cNvPr>
          <p:cNvGrpSpPr/>
          <p:nvPr/>
        </p:nvGrpSpPr>
        <p:grpSpPr>
          <a:xfrm>
            <a:off x="12095544" y="0"/>
            <a:ext cx="96456" cy="6858000"/>
            <a:chOff x="4085863" y="0"/>
            <a:chExt cx="92598" cy="69795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C5F61AF-7707-45EC-A9BB-2A016CC3FC22}"/>
                </a:ext>
              </a:extLst>
            </p:cNvPr>
            <p:cNvSpPr/>
            <p:nvPr/>
          </p:nvSpPr>
          <p:spPr>
            <a:xfrm>
              <a:off x="4085863" y="0"/>
              <a:ext cx="92598" cy="232651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9B7F66A-FE94-4238-9690-170DBFAAB5E3}"/>
                </a:ext>
              </a:extLst>
            </p:cNvPr>
            <p:cNvSpPr/>
            <p:nvPr/>
          </p:nvSpPr>
          <p:spPr>
            <a:xfrm>
              <a:off x="4085863" y="2326512"/>
              <a:ext cx="92598" cy="2326512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B6E89B9-6891-49F9-95C7-7063F4CD7BC4}"/>
                </a:ext>
              </a:extLst>
            </p:cNvPr>
            <p:cNvSpPr/>
            <p:nvPr/>
          </p:nvSpPr>
          <p:spPr>
            <a:xfrm>
              <a:off x="4085863" y="4653024"/>
              <a:ext cx="92598" cy="2326512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11CA32-33E1-495B-B495-69F48A393635}"/>
              </a:ext>
            </a:extLst>
          </p:cNvPr>
          <p:cNvSpPr txBox="1"/>
          <p:nvPr/>
        </p:nvSpPr>
        <p:spPr>
          <a:xfrm>
            <a:off x="164116" y="3105833"/>
            <a:ext cx="42848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accent6">
                    <a:lumMod val="75000"/>
                  </a:schemeClr>
                </a:solidFill>
              </a:rPr>
              <a:t>FIRST PARK 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</a:rPr>
              <a:t>THEN PAY</a:t>
            </a:r>
            <a:endParaRPr lang="en-IN" sz="36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3E5823-7E07-45EC-A8E0-4B81FB489C00}"/>
              </a:ext>
            </a:extLst>
          </p:cNvPr>
          <p:cNvSpPr txBox="1"/>
          <p:nvPr/>
        </p:nvSpPr>
        <p:spPr>
          <a:xfrm>
            <a:off x="161295" y="5301423"/>
            <a:ext cx="5156091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/>
              <a:t>Udhayarajan J (2202561) MCA – I</a:t>
            </a:r>
          </a:p>
          <a:p>
            <a:pPr algn="l"/>
            <a:endParaRPr lang="en-IN" sz="1800" b="0" i="0" u="none" strike="noStrike" baseline="0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algn="l"/>
            <a:r>
              <a:rPr lang="en-IN" sz="1800" b="0" i="0" u="none" strike="noStrike" baseline="0" dirty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IN" sz="1800" b="1" i="0" u="none" strike="noStrike" baseline="0" dirty="0">
                <a:solidFill>
                  <a:srgbClr val="000000"/>
                </a:solidFill>
                <a:latin typeface="Cambria" panose="02040503050406030204" pitchFamily="18" charset="0"/>
              </a:rPr>
              <a:t>Guided by : Nidhi Damle</a:t>
            </a:r>
          </a:p>
          <a:p>
            <a:pPr algn="l"/>
            <a:r>
              <a:rPr lang="en-IN" sz="1800" b="1" i="0" u="none" strike="noStrike" baseline="0" dirty="0">
                <a:solidFill>
                  <a:srgbClr val="000000"/>
                </a:solidFill>
                <a:latin typeface="Cambria" panose="02040503050406030204" pitchFamily="18" charset="0"/>
              </a:rPr>
              <a:t> (</a:t>
            </a:r>
            <a:r>
              <a:rPr lang="en-IN" sz="1800" b="0" i="0" u="none" strike="noStrike" baseline="0" dirty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IN" sz="1800" b="1" i="0" u="none" strike="noStrike" baseline="0" dirty="0">
                <a:solidFill>
                  <a:srgbClr val="000000"/>
                </a:solidFill>
                <a:latin typeface="Cambria" panose="02040503050406030204" pitchFamily="18" charset="0"/>
              </a:rPr>
              <a:t>Assistant Professor, MCA Department )  </a:t>
            </a:r>
            <a:endParaRPr lang="en-IN" sz="2800" b="1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0FAEAC18-37C0-45B2-A497-4A71E1E1BA56}"/>
              </a:ext>
            </a:extLst>
          </p:cNvPr>
          <p:cNvSpPr/>
          <p:nvPr/>
        </p:nvSpPr>
        <p:spPr>
          <a:xfrm>
            <a:off x="2" y="0"/>
            <a:ext cx="2257061" cy="4757196"/>
          </a:xfrm>
          <a:custGeom>
            <a:avLst/>
            <a:gdLst>
              <a:gd name="connsiteX0" fmla="*/ 0 w 1516425"/>
              <a:gd name="connsiteY0" fmla="*/ 0 h 1674445"/>
              <a:gd name="connsiteX1" fmla="*/ 1402426 w 1516425"/>
              <a:gd name="connsiteY1" fmla="*/ 0 h 1674445"/>
              <a:gd name="connsiteX2" fmla="*/ 1410154 w 1516425"/>
              <a:gd name="connsiteY2" fmla="*/ 14178 h 1674445"/>
              <a:gd name="connsiteX3" fmla="*/ 1516425 w 1516425"/>
              <a:gd name="connsiteY3" fmla="*/ 479359 h 1674445"/>
              <a:gd name="connsiteX4" fmla="*/ 164116 w 1516425"/>
              <a:gd name="connsiteY4" fmla="*/ 1674445 h 1674445"/>
              <a:gd name="connsiteX5" fmla="*/ 25850 w 1516425"/>
              <a:gd name="connsiteY5" fmla="*/ 1668275 h 1674445"/>
              <a:gd name="connsiteX6" fmla="*/ 0 w 1516425"/>
              <a:gd name="connsiteY6" fmla="*/ 1664788 h 1674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16425" h="1674445">
                <a:moveTo>
                  <a:pt x="0" y="0"/>
                </a:moveTo>
                <a:lnTo>
                  <a:pt x="1402426" y="0"/>
                </a:lnTo>
                <a:lnTo>
                  <a:pt x="1410154" y="14178"/>
                </a:lnTo>
                <a:cubicBezTo>
                  <a:pt x="1478584" y="157156"/>
                  <a:pt x="1516425" y="314352"/>
                  <a:pt x="1516425" y="479359"/>
                </a:cubicBezTo>
                <a:cubicBezTo>
                  <a:pt x="1516425" y="1139387"/>
                  <a:pt x="910976" y="1674445"/>
                  <a:pt x="164116" y="1674445"/>
                </a:cubicBezTo>
                <a:cubicBezTo>
                  <a:pt x="117437" y="1674445"/>
                  <a:pt x="71311" y="1672355"/>
                  <a:pt x="25850" y="1668275"/>
                </a:cubicBezTo>
                <a:lnTo>
                  <a:pt x="0" y="1664788"/>
                </a:lnTo>
                <a:close/>
              </a:path>
            </a:pathLst>
          </a:custGeom>
          <a:solidFill>
            <a:schemeClr val="accent1">
              <a:alpha val="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0738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C45AAAD-CFA5-4FBA-B6F2-DA12CF66F8DF}"/>
              </a:ext>
            </a:extLst>
          </p:cNvPr>
          <p:cNvGrpSpPr/>
          <p:nvPr/>
        </p:nvGrpSpPr>
        <p:grpSpPr>
          <a:xfrm>
            <a:off x="12095544" y="0"/>
            <a:ext cx="96456" cy="6858000"/>
            <a:chOff x="4085863" y="0"/>
            <a:chExt cx="92598" cy="69795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F290E34-DE27-4E75-88BF-D18BC85FE3A7}"/>
                </a:ext>
              </a:extLst>
            </p:cNvPr>
            <p:cNvSpPr/>
            <p:nvPr/>
          </p:nvSpPr>
          <p:spPr>
            <a:xfrm>
              <a:off x="4085863" y="0"/>
              <a:ext cx="92598" cy="232651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3821208-BD4C-447A-9985-25363D081927}"/>
                </a:ext>
              </a:extLst>
            </p:cNvPr>
            <p:cNvSpPr/>
            <p:nvPr/>
          </p:nvSpPr>
          <p:spPr>
            <a:xfrm>
              <a:off x="4085863" y="2326512"/>
              <a:ext cx="92598" cy="2326512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C2F6F25-8A46-4AC3-85B4-399B1D665BF3}"/>
                </a:ext>
              </a:extLst>
            </p:cNvPr>
            <p:cNvSpPr/>
            <p:nvPr/>
          </p:nvSpPr>
          <p:spPr>
            <a:xfrm>
              <a:off x="4085863" y="4653024"/>
              <a:ext cx="92598" cy="2326512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03772F54-29ED-4157-B5B7-942EDB2412F0}"/>
              </a:ext>
            </a:extLst>
          </p:cNvPr>
          <p:cNvSpPr txBox="1"/>
          <p:nvPr/>
        </p:nvSpPr>
        <p:spPr>
          <a:xfrm>
            <a:off x="520861" y="558225"/>
            <a:ext cx="19682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u="sng" dirty="0"/>
              <a:t>Objectives</a:t>
            </a:r>
            <a:endParaRPr lang="en-IN" sz="3200" b="1" u="sng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550676-749C-4C06-8F31-028A0154ED70}"/>
              </a:ext>
            </a:extLst>
          </p:cNvPr>
          <p:cNvSpPr txBox="1"/>
          <p:nvPr/>
        </p:nvSpPr>
        <p:spPr>
          <a:xfrm>
            <a:off x="520861" y="1338594"/>
            <a:ext cx="6848354" cy="2230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b="1" dirty="0"/>
              <a:t>To provide a smooth and efficient parking system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b="1" dirty="0"/>
              <a:t>To reduce waiting time and avoid long queues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b="1" dirty="0"/>
              <a:t>To offer real-time tracking of available parking slots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b="1" dirty="0"/>
              <a:t>To ensure accurate billing and improve parking management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476447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7EE27D2-3347-4E0B-8A95-CAAAB18AF5E2}"/>
              </a:ext>
            </a:extLst>
          </p:cNvPr>
          <p:cNvGrpSpPr/>
          <p:nvPr/>
        </p:nvGrpSpPr>
        <p:grpSpPr>
          <a:xfrm>
            <a:off x="12095544" y="0"/>
            <a:ext cx="96456" cy="6858000"/>
            <a:chOff x="4085863" y="0"/>
            <a:chExt cx="92598" cy="69795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E151F6B-6262-41C1-8308-37C7A24B7E4B}"/>
                </a:ext>
              </a:extLst>
            </p:cNvPr>
            <p:cNvSpPr/>
            <p:nvPr/>
          </p:nvSpPr>
          <p:spPr>
            <a:xfrm>
              <a:off x="4085863" y="0"/>
              <a:ext cx="92598" cy="232651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DE52912-6016-4792-9445-BEC94D275FC1}"/>
                </a:ext>
              </a:extLst>
            </p:cNvPr>
            <p:cNvSpPr/>
            <p:nvPr/>
          </p:nvSpPr>
          <p:spPr>
            <a:xfrm>
              <a:off x="4085863" y="2326512"/>
              <a:ext cx="92598" cy="2326512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C68DD8B-2CA0-43CB-AE97-8E30D501AFF9}"/>
                </a:ext>
              </a:extLst>
            </p:cNvPr>
            <p:cNvSpPr/>
            <p:nvPr/>
          </p:nvSpPr>
          <p:spPr>
            <a:xfrm>
              <a:off x="4085863" y="4653024"/>
              <a:ext cx="92598" cy="2326512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E158ED61-9F28-41BE-A7B9-E3E30F3398C3}"/>
              </a:ext>
            </a:extLst>
          </p:cNvPr>
          <p:cNvSpPr txBox="1"/>
          <p:nvPr/>
        </p:nvSpPr>
        <p:spPr>
          <a:xfrm>
            <a:off x="520861" y="558225"/>
            <a:ext cx="33295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u="sng" dirty="0"/>
              <a:t>Technologies Used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E17C282-0676-41B9-A368-A4EB3008EBB7}"/>
              </a:ext>
            </a:extLst>
          </p:cNvPr>
          <p:cNvGrpSpPr/>
          <p:nvPr/>
        </p:nvGrpSpPr>
        <p:grpSpPr>
          <a:xfrm>
            <a:off x="7434835" y="2067528"/>
            <a:ext cx="4146140" cy="2504472"/>
            <a:chOff x="409002" y="2362682"/>
            <a:chExt cx="4146140" cy="2504472"/>
          </a:xfrm>
        </p:grpSpPr>
        <p:pic>
          <p:nvPicPr>
            <p:cNvPr id="2050" name="Picture 2" descr="Spring Boot - Wikipedia">
              <a:extLst>
                <a:ext uri="{FF2B5EF4-FFF2-40B4-BE49-F238E27FC236}">
                  <a16:creationId xmlns:a16="http://schemas.microsoft.com/office/drawing/2014/main" id="{1040AE8E-57E0-45E6-A28B-1BFFE7A662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0861" y="2581154"/>
              <a:ext cx="847846" cy="8478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2" name="Picture 4">
              <a:extLst>
                <a:ext uri="{FF2B5EF4-FFF2-40B4-BE49-F238E27FC236}">
                  <a16:creationId xmlns:a16="http://schemas.microsoft.com/office/drawing/2014/main" id="{D798DCF1-39CE-4F4F-A543-A878EDD93E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76223" y="2362682"/>
              <a:ext cx="908870" cy="12847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One framework. - Angular">
              <a:extLst>
                <a:ext uri="{FF2B5EF4-FFF2-40B4-BE49-F238E27FC236}">
                  <a16:creationId xmlns:a16="http://schemas.microsoft.com/office/drawing/2014/main" id="{3AACF673-C589-4567-AFEE-A62E3E23D2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9002" y="3795591"/>
              <a:ext cx="1071563" cy="10715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6" name="Picture 8">
              <a:extLst>
                <a:ext uri="{FF2B5EF4-FFF2-40B4-BE49-F238E27FC236}">
                  <a16:creationId xmlns:a16="http://schemas.microsoft.com/office/drawing/2014/main" id="{079ACB77-2C54-4F54-8133-D1E6950DA4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84719" y="3747175"/>
              <a:ext cx="1096830" cy="10968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E274546-B56A-4692-B8AC-97889FC73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389066" y="2929841"/>
              <a:ext cx="1166076" cy="1284790"/>
            </a:xfrm>
            <a:prstGeom prst="rect">
              <a:avLst/>
            </a:prstGeom>
          </p:spPr>
        </p:pic>
      </p:grpSp>
      <p:sp>
        <p:nvSpPr>
          <p:cNvPr id="14" name="Rectangle 11">
            <a:extLst>
              <a:ext uri="{FF2B5EF4-FFF2-40B4-BE49-F238E27FC236}">
                <a16:creationId xmlns:a16="http://schemas.microsoft.com/office/drawing/2014/main" id="{E68A3F8B-0EF7-4572-8499-B8EA68AAE674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40779" y="1515278"/>
            <a:ext cx="660982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Java (Spring Boot)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– For building the backend API and business logic.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Angular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b="1" dirty="0"/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– For developing the frontend user interface.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MySQL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/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– For storing parking, user, and payment data.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Key Cloak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/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– For secure authentication and authorization.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Docker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– For containerizing the application and easy deployment.</a:t>
            </a:r>
          </a:p>
        </p:txBody>
      </p:sp>
    </p:spTree>
    <p:extLst>
      <p:ext uri="{BB962C8B-B14F-4D97-AF65-F5344CB8AC3E}">
        <p14:creationId xmlns:p14="http://schemas.microsoft.com/office/powerpoint/2010/main" val="575227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4F3083C-8073-41DA-BE21-482F31912255}"/>
              </a:ext>
            </a:extLst>
          </p:cNvPr>
          <p:cNvGrpSpPr/>
          <p:nvPr/>
        </p:nvGrpSpPr>
        <p:grpSpPr>
          <a:xfrm>
            <a:off x="12095544" y="0"/>
            <a:ext cx="96456" cy="6858000"/>
            <a:chOff x="4085863" y="0"/>
            <a:chExt cx="92598" cy="69795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8ED4EC0-5CBC-4187-BF0A-6AAD390F140C}"/>
                </a:ext>
              </a:extLst>
            </p:cNvPr>
            <p:cNvSpPr/>
            <p:nvPr/>
          </p:nvSpPr>
          <p:spPr>
            <a:xfrm>
              <a:off x="4085863" y="0"/>
              <a:ext cx="92598" cy="232651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14B06B3-541A-4E58-B896-07FDB44BF42B}"/>
                </a:ext>
              </a:extLst>
            </p:cNvPr>
            <p:cNvSpPr/>
            <p:nvPr/>
          </p:nvSpPr>
          <p:spPr>
            <a:xfrm>
              <a:off x="4085863" y="2326512"/>
              <a:ext cx="92598" cy="2326512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0604DE4-1EF8-46F7-9121-263CA1FF4425}"/>
                </a:ext>
              </a:extLst>
            </p:cNvPr>
            <p:cNvSpPr/>
            <p:nvPr/>
          </p:nvSpPr>
          <p:spPr>
            <a:xfrm>
              <a:off x="4085863" y="4653024"/>
              <a:ext cx="92598" cy="2326512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E40F92AB-AFCF-4D06-A510-F982CA40ECDF}"/>
              </a:ext>
            </a:extLst>
          </p:cNvPr>
          <p:cNvSpPr txBox="1"/>
          <p:nvPr/>
        </p:nvSpPr>
        <p:spPr>
          <a:xfrm>
            <a:off x="5258271" y="558225"/>
            <a:ext cx="16754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u="sng" dirty="0"/>
              <a:t>Modules</a:t>
            </a:r>
            <a:endParaRPr lang="en-IN" sz="3200" b="1" u="sng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23DD7F5-5D34-4AA7-A61D-21D85354A2C9}"/>
              </a:ext>
            </a:extLst>
          </p:cNvPr>
          <p:cNvGrpSpPr/>
          <p:nvPr/>
        </p:nvGrpSpPr>
        <p:grpSpPr>
          <a:xfrm>
            <a:off x="1242349" y="2114308"/>
            <a:ext cx="9707303" cy="2629384"/>
            <a:chOff x="1265503" y="1982164"/>
            <a:chExt cx="9707303" cy="262938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B7D81DA-53FD-4398-9F4B-78C5C7C772B6}"/>
                </a:ext>
              </a:extLst>
            </p:cNvPr>
            <p:cNvSpPr/>
            <p:nvPr/>
          </p:nvSpPr>
          <p:spPr>
            <a:xfrm>
              <a:off x="4573930" y="2832905"/>
              <a:ext cx="3090441" cy="60767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First Pay Then Park</a:t>
              </a:r>
              <a:endParaRPr lang="en-IN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E67C1DD-008A-42EF-BF39-B03F21D9B662}"/>
                </a:ext>
              </a:extLst>
            </p:cNvPr>
            <p:cNvSpPr/>
            <p:nvPr/>
          </p:nvSpPr>
          <p:spPr>
            <a:xfrm>
              <a:off x="1265503" y="4003877"/>
              <a:ext cx="3090441" cy="60767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User Management</a:t>
              </a:r>
              <a:endParaRPr lang="en-IN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2419BCE-F81D-4A3A-9845-1AC1826A1A07}"/>
                </a:ext>
              </a:extLst>
            </p:cNvPr>
            <p:cNvSpPr/>
            <p:nvPr/>
          </p:nvSpPr>
          <p:spPr>
            <a:xfrm>
              <a:off x="4573934" y="4003876"/>
              <a:ext cx="3090441" cy="60767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Vehicle Management</a:t>
              </a:r>
              <a:endParaRPr lang="en-IN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D53924A-5A57-447F-A72E-0BDE482996C6}"/>
                </a:ext>
              </a:extLst>
            </p:cNvPr>
            <p:cNvSpPr/>
            <p:nvPr/>
          </p:nvSpPr>
          <p:spPr>
            <a:xfrm>
              <a:off x="7882365" y="4003875"/>
              <a:ext cx="3090441" cy="60767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Billing &amp; Payment Management</a:t>
              </a:r>
              <a:endParaRPr lang="en-IN" dirty="0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C72CC47-28C5-463C-8E80-F1DAE6682D0F}"/>
                </a:ext>
              </a:extLst>
            </p:cNvPr>
            <p:cNvCxnSpPr/>
            <p:nvPr/>
          </p:nvCxnSpPr>
          <p:spPr>
            <a:xfrm>
              <a:off x="2669899" y="3683644"/>
              <a:ext cx="6898512" cy="0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C25CE44-2A9B-44FA-BA3C-D55E850195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4974" y="3683644"/>
              <a:ext cx="0" cy="320233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D854628-CC1D-47F9-8C02-5764AAF1DD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2" y="3683644"/>
              <a:ext cx="0" cy="320233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9302097-4315-4A61-91A0-75232DEEC0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43330" y="3683644"/>
              <a:ext cx="0" cy="320233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7730A31-3FA4-4153-B54F-3C1D79A85F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3440574"/>
              <a:ext cx="0" cy="243070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6D14ECD-B00A-489C-ADB0-D61D568222EE}"/>
                </a:ext>
              </a:extLst>
            </p:cNvPr>
            <p:cNvSpPr/>
            <p:nvPr/>
          </p:nvSpPr>
          <p:spPr>
            <a:xfrm>
              <a:off x="4550779" y="1982164"/>
              <a:ext cx="3090441" cy="60767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Dashboard &amp; Reporting</a:t>
              </a:r>
              <a:endParaRPr lang="en-IN" dirty="0"/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6C18EFD-B7C3-4C61-9970-EA73112AAC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82490" y="2589835"/>
              <a:ext cx="0" cy="243070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43162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6903D03-C103-4718-80AF-E4249F99A594}"/>
              </a:ext>
            </a:extLst>
          </p:cNvPr>
          <p:cNvGrpSpPr/>
          <p:nvPr/>
        </p:nvGrpSpPr>
        <p:grpSpPr>
          <a:xfrm>
            <a:off x="12095544" y="0"/>
            <a:ext cx="96456" cy="6858000"/>
            <a:chOff x="4085863" y="0"/>
            <a:chExt cx="92598" cy="69795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A02BFAC-A203-496D-8EC3-C5F1F02723DB}"/>
                </a:ext>
              </a:extLst>
            </p:cNvPr>
            <p:cNvSpPr/>
            <p:nvPr/>
          </p:nvSpPr>
          <p:spPr>
            <a:xfrm>
              <a:off x="4085863" y="0"/>
              <a:ext cx="92598" cy="232651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0318679-63E9-496E-B385-04D768EC9A79}"/>
                </a:ext>
              </a:extLst>
            </p:cNvPr>
            <p:cNvSpPr/>
            <p:nvPr/>
          </p:nvSpPr>
          <p:spPr>
            <a:xfrm>
              <a:off x="4085863" y="2326512"/>
              <a:ext cx="92598" cy="2326512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AEA11A6-B811-4C01-9D3E-1F22BC5A02C5}"/>
                </a:ext>
              </a:extLst>
            </p:cNvPr>
            <p:cNvSpPr/>
            <p:nvPr/>
          </p:nvSpPr>
          <p:spPr>
            <a:xfrm>
              <a:off x="4085863" y="4653024"/>
              <a:ext cx="92598" cy="2326512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1A3AFAEF-CDCB-45C1-8F1A-D82934316FD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9253" y="972272"/>
            <a:ext cx="7619362" cy="4502553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perspectiveContrastingLeftFacing">
              <a:rot lat="623785" lon="1800000" rev="21386789"/>
            </a:camera>
            <a:lightRig rig="threePt" dir="t"/>
          </a:scene3d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F10A261-D5A2-4FAA-B717-7235741F735E}"/>
              </a:ext>
            </a:extLst>
          </p:cNvPr>
          <p:cNvSpPr txBox="1"/>
          <p:nvPr/>
        </p:nvSpPr>
        <p:spPr>
          <a:xfrm>
            <a:off x="520861" y="558225"/>
            <a:ext cx="41811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u="sng" dirty="0"/>
              <a:t>Dashboard &amp; Reporting</a:t>
            </a:r>
            <a:endParaRPr lang="en-IN" sz="3200" b="1" u="sng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D19772-2D8C-4B09-959A-783CACE7FA59}"/>
              </a:ext>
            </a:extLst>
          </p:cNvPr>
          <p:cNvSpPr txBox="1"/>
          <p:nvPr/>
        </p:nvSpPr>
        <p:spPr>
          <a:xfrm>
            <a:off x="520861" y="2005469"/>
            <a:ext cx="413862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effectLst/>
                <a:latin typeface="fkGroteskNeue"/>
              </a:rPr>
              <a:t>Displays today’s collection split by cash and online payments for quick revenue insight.</a:t>
            </a:r>
            <a:br>
              <a:rPr lang="en-US" b="0" i="0" dirty="0">
                <a:effectLst/>
                <a:latin typeface="fkGroteskNeue"/>
              </a:rPr>
            </a:br>
            <a:br>
              <a:rPr lang="en-US" b="0" i="0" dirty="0">
                <a:effectLst/>
                <a:latin typeface="fkGroteskNeue"/>
              </a:rPr>
            </a:br>
            <a:r>
              <a:rPr lang="en-US" b="0" i="0" dirty="0">
                <a:effectLst/>
                <a:latin typeface="fkGroteskNeue"/>
              </a:rPr>
              <a:t>Shows total in-parking and out-parking vehicles to monitor real-time occupancy.</a:t>
            </a:r>
          </a:p>
          <a:p>
            <a:br>
              <a:rPr lang="en-US" dirty="0"/>
            </a:br>
            <a:r>
              <a:rPr lang="en-US" b="0" i="0" dirty="0">
                <a:effectLst/>
                <a:latin typeface="fkGroteskNeue"/>
              </a:rPr>
              <a:t>Summarizes total, available, and reserved slots by vehicle type (auto, bike, bus, car) to support allocation decisions.</a:t>
            </a:r>
          </a:p>
          <a:p>
            <a:endParaRPr lang="en-US" b="0" i="0" dirty="0">
              <a:effectLst/>
              <a:latin typeface="fkGroteskNeue"/>
            </a:endParaRPr>
          </a:p>
        </p:txBody>
      </p:sp>
    </p:spTree>
    <p:extLst>
      <p:ext uri="{BB962C8B-B14F-4D97-AF65-F5344CB8AC3E}">
        <p14:creationId xmlns:p14="http://schemas.microsoft.com/office/powerpoint/2010/main" val="625862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8FED248-84C9-474C-BB7F-A1BDDD768B5B}"/>
              </a:ext>
            </a:extLst>
          </p:cNvPr>
          <p:cNvGrpSpPr/>
          <p:nvPr/>
        </p:nvGrpSpPr>
        <p:grpSpPr>
          <a:xfrm>
            <a:off x="12095544" y="0"/>
            <a:ext cx="96456" cy="6858000"/>
            <a:chOff x="4085863" y="0"/>
            <a:chExt cx="92598" cy="69795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6F70F9A-CCA9-44FB-AB7C-549A917CDAB7}"/>
                </a:ext>
              </a:extLst>
            </p:cNvPr>
            <p:cNvSpPr/>
            <p:nvPr/>
          </p:nvSpPr>
          <p:spPr>
            <a:xfrm>
              <a:off x="4085863" y="0"/>
              <a:ext cx="92598" cy="232651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067BA2C-508B-481D-9A31-C6E81D9F6223}"/>
                </a:ext>
              </a:extLst>
            </p:cNvPr>
            <p:cNvSpPr/>
            <p:nvPr/>
          </p:nvSpPr>
          <p:spPr>
            <a:xfrm>
              <a:off x="4085863" y="2326512"/>
              <a:ext cx="92598" cy="2326512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8D2AF3B-A568-4689-87D2-71F7E4D59DFA}"/>
                </a:ext>
              </a:extLst>
            </p:cNvPr>
            <p:cNvSpPr/>
            <p:nvPr/>
          </p:nvSpPr>
          <p:spPr>
            <a:xfrm>
              <a:off x="4085863" y="4653024"/>
              <a:ext cx="92598" cy="2326512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836F55EB-6E18-4B36-BF16-34AAAF66CC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295920">
            <a:off x="96456" y="1056959"/>
            <a:ext cx="8287473" cy="4744082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perspectiveContrastingRightFacing">
              <a:rot lat="0" lon="19200000" rev="0"/>
            </a:camera>
            <a:lightRig rig="threePt" dir="t"/>
          </a:scene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90569F4-8DD2-4134-845B-4E6B4CFA870F}"/>
              </a:ext>
            </a:extLst>
          </p:cNvPr>
          <p:cNvSpPr txBox="1"/>
          <p:nvPr/>
        </p:nvSpPr>
        <p:spPr>
          <a:xfrm>
            <a:off x="7488821" y="558225"/>
            <a:ext cx="37830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u="sng" dirty="0"/>
              <a:t>Vehicle Management</a:t>
            </a:r>
            <a:endParaRPr lang="en-IN" sz="3200" b="1" u="sng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70F3E7-39D4-4701-AD1C-B3F1BC0F375D}"/>
              </a:ext>
            </a:extLst>
          </p:cNvPr>
          <p:cNvSpPr txBox="1"/>
          <p:nvPr/>
        </p:nvSpPr>
        <p:spPr>
          <a:xfrm>
            <a:off x="7488821" y="1824335"/>
            <a:ext cx="448518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effectLst/>
                <a:latin typeface="fkGroteskNeue"/>
              </a:rPr>
              <a:t>Lists all vehicle types with their hourly rate, block assignment, total slots, and status to manage parking configuration efficiently.</a:t>
            </a:r>
          </a:p>
        </p:txBody>
      </p:sp>
    </p:spTree>
    <p:extLst>
      <p:ext uri="{BB962C8B-B14F-4D97-AF65-F5344CB8AC3E}">
        <p14:creationId xmlns:p14="http://schemas.microsoft.com/office/powerpoint/2010/main" val="9201449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81330AFD-D8C0-408F-8B2C-F1BBC94519C9}"/>
              </a:ext>
            </a:extLst>
          </p:cNvPr>
          <p:cNvGrpSpPr/>
          <p:nvPr/>
        </p:nvGrpSpPr>
        <p:grpSpPr>
          <a:xfrm>
            <a:off x="12095544" y="0"/>
            <a:ext cx="96456" cy="6858000"/>
            <a:chOff x="4085863" y="0"/>
            <a:chExt cx="92598" cy="69795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2808777-8460-485C-A2F4-28B9CDD99220}"/>
                </a:ext>
              </a:extLst>
            </p:cNvPr>
            <p:cNvSpPr/>
            <p:nvPr/>
          </p:nvSpPr>
          <p:spPr>
            <a:xfrm>
              <a:off x="4085863" y="0"/>
              <a:ext cx="92598" cy="232651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5CD7E7E-A875-4297-AEEB-0EC202544106}"/>
                </a:ext>
              </a:extLst>
            </p:cNvPr>
            <p:cNvSpPr/>
            <p:nvPr/>
          </p:nvSpPr>
          <p:spPr>
            <a:xfrm>
              <a:off x="4085863" y="2326512"/>
              <a:ext cx="92598" cy="2326512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1941AE5-C87D-4277-A493-1603657CACB9}"/>
                </a:ext>
              </a:extLst>
            </p:cNvPr>
            <p:cNvSpPr/>
            <p:nvPr/>
          </p:nvSpPr>
          <p:spPr>
            <a:xfrm>
              <a:off x="4085863" y="4653024"/>
              <a:ext cx="92598" cy="2326512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5A916AFD-E7A4-4ABF-BF66-7D58233241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958" y="1458409"/>
            <a:ext cx="8051182" cy="4178461"/>
          </a:xfrm>
          <a:prstGeom prst="rect">
            <a:avLst/>
          </a:prstGeom>
          <a:scene3d>
            <a:camera prst="perspectiveContrastingRightFacing">
              <a:rot lat="623785" lon="18963666" rev="0"/>
            </a:camera>
            <a:lightRig rig="threePt" dir="t"/>
          </a:scene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B66DCA-2F3A-469A-8CC5-B50CCDAE6966}"/>
              </a:ext>
            </a:extLst>
          </p:cNvPr>
          <p:cNvSpPr txBox="1"/>
          <p:nvPr/>
        </p:nvSpPr>
        <p:spPr>
          <a:xfrm>
            <a:off x="3308314" y="558225"/>
            <a:ext cx="55753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u="sng" dirty="0"/>
              <a:t>Billing &amp; Payment Management</a:t>
            </a:r>
            <a:endParaRPr lang="en-IN" sz="3200" b="1" u="sng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B7A6EB-E443-42EF-AA3B-95F9924BBC5A}"/>
              </a:ext>
            </a:extLst>
          </p:cNvPr>
          <p:cNvSpPr txBox="1"/>
          <p:nvPr/>
        </p:nvSpPr>
        <p:spPr>
          <a:xfrm>
            <a:off x="6996896" y="1458409"/>
            <a:ext cx="46712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effectLst/>
                <a:latin typeface="fkGroteskNeue"/>
              </a:rPr>
              <a:t>Captures all active parking sessions with vehicle, slot, time in/out, and total hours for precise tracking and billing.</a:t>
            </a:r>
          </a:p>
        </p:txBody>
      </p:sp>
    </p:spTree>
    <p:extLst>
      <p:ext uri="{BB962C8B-B14F-4D97-AF65-F5344CB8AC3E}">
        <p14:creationId xmlns:p14="http://schemas.microsoft.com/office/powerpoint/2010/main" val="396859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2AD664B-20E4-44E2-B84D-37CCE2A0B7BD}"/>
              </a:ext>
            </a:extLst>
          </p:cNvPr>
          <p:cNvGrpSpPr/>
          <p:nvPr/>
        </p:nvGrpSpPr>
        <p:grpSpPr>
          <a:xfrm>
            <a:off x="12095544" y="0"/>
            <a:ext cx="96456" cy="6858000"/>
            <a:chOff x="4085863" y="0"/>
            <a:chExt cx="92598" cy="697953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160DBAA-2681-46F2-AF23-38798E2F8E5B}"/>
                </a:ext>
              </a:extLst>
            </p:cNvPr>
            <p:cNvSpPr/>
            <p:nvPr/>
          </p:nvSpPr>
          <p:spPr>
            <a:xfrm>
              <a:off x="4085863" y="0"/>
              <a:ext cx="92598" cy="232651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7E7C816-70F7-4182-9917-1A90A6467FE3}"/>
                </a:ext>
              </a:extLst>
            </p:cNvPr>
            <p:cNvSpPr/>
            <p:nvPr/>
          </p:nvSpPr>
          <p:spPr>
            <a:xfrm>
              <a:off x="4085863" y="2326512"/>
              <a:ext cx="92598" cy="2326512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F20727E-799A-4881-AE88-280BF493F6FF}"/>
                </a:ext>
              </a:extLst>
            </p:cNvPr>
            <p:cNvSpPr/>
            <p:nvPr/>
          </p:nvSpPr>
          <p:spPr>
            <a:xfrm>
              <a:off x="4085863" y="4653024"/>
              <a:ext cx="92598" cy="2326512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9EDD0FEA-F998-4E11-90F4-5C9044E0BCD5}"/>
              </a:ext>
            </a:extLst>
          </p:cNvPr>
          <p:cNvSpPr txBox="1"/>
          <p:nvPr/>
        </p:nvSpPr>
        <p:spPr>
          <a:xfrm>
            <a:off x="386848" y="361455"/>
            <a:ext cx="33391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u="sng" dirty="0"/>
              <a:t>User Management</a:t>
            </a:r>
            <a:endParaRPr lang="en-IN" sz="3200" b="1" u="sng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E527953-E097-4895-80BD-1A7A39103F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3345" y="1364229"/>
            <a:ext cx="7717360" cy="4129542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perspectiveLeft"/>
            <a:lightRig rig="threePt" dir="t"/>
          </a:scene3d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AB63331-BE5D-48D0-9C69-3B028E54E926}"/>
              </a:ext>
            </a:extLst>
          </p:cNvPr>
          <p:cNvSpPr txBox="1"/>
          <p:nvPr/>
        </p:nvSpPr>
        <p:spPr>
          <a:xfrm>
            <a:off x="386848" y="1720840"/>
            <a:ext cx="401153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Efficient user management is crucial for maintaining secure and organized access within the system. </a:t>
            </a:r>
          </a:p>
          <a:p>
            <a:endParaRPr lang="en-US" dirty="0"/>
          </a:p>
          <a:p>
            <a:r>
              <a:rPr lang="en-US" dirty="0"/>
              <a:t>Administrators can create, update, and delete user accounts, assign roles, and control authentication settings.</a:t>
            </a:r>
          </a:p>
          <a:p>
            <a:endParaRPr lang="en-US" dirty="0"/>
          </a:p>
          <a:p>
            <a:r>
              <a:rPr lang="en-US" dirty="0"/>
              <a:t>This ensures that only authorized individuals can access specific resources, enhancing both security and operational clarity.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13C0489-ED8F-42F5-9EB2-0B23E712CC3C}"/>
              </a:ext>
            </a:extLst>
          </p:cNvPr>
          <p:cNvSpPr txBox="1"/>
          <p:nvPr/>
        </p:nvSpPr>
        <p:spPr>
          <a:xfrm>
            <a:off x="-163063" y="1143000"/>
            <a:ext cx="26651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/>
              <a:t>Manage Users</a:t>
            </a:r>
            <a:endParaRPr lang="en-IN" sz="1800" b="1" dirty="0"/>
          </a:p>
        </p:txBody>
      </p:sp>
    </p:spTree>
    <p:extLst>
      <p:ext uri="{BB962C8B-B14F-4D97-AF65-F5344CB8AC3E}">
        <p14:creationId xmlns:p14="http://schemas.microsoft.com/office/powerpoint/2010/main" val="22162514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A27A9E0-5651-4EB3-832B-352220F8667F}"/>
              </a:ext>
            </a:extLst>
          </p:cNvPr>
          <p:cNvGrpSpPr/>
          <p:nvPr/>
        </p:nvGrpSpPr>
        <p:grpSpPr>
          <a:xfrm>
            <a:off x="12095544" y="0"/>
            <a:ext cx="96456" cy="6858000"/>
            <a:chOff x="4085863" y="0"/>
            <a:chExt cx="92598" cy="69795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46FB90F-B83F-4CAB-ABDC-94083C6F5906}"/>
                </a:ext>
              </a:extLst>
            </p:cNvPr>
            <p:cNvSpPr/>
            <p:nvPr/>
          </p:nvSpPr>
          <p:spPr>
            <a:xfrm>
              <a:off x="4085863" y="0"/>
              <a:ext cx="92598" cy="232651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49C2861-BAD1-4385-96FD-A3A5F7EE231A}"/>
                </a:ext>
              </a:extLst>
            </p:cNvPr>
            <p:cNvSpPr/>
            <p:nvPr/>
          </p:nvSpPr>
          <p:spPr>
            <a:xfrm>
              <a:off x="4085863" y="2326512"/>
              <a:ext cx="92598" cy="2326512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F4CFD61-2E06-446F-9BA1-36364EA14ECD}"/>
                </a:ext>
              </a:extLst>
            </p:cNvPr>
            <p:cNvSpPr/>
            <p:nvPr/>
          </p:nvSpPr>
          <p:spPr>
            <a:xfrm>
              <a:off x="4085863" y="4653024"/>
              <a:ext cx="92598" cy="2326512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78EFE15-DFB7-45F4-A07C-9B60AC95E0CC}"/>
              </a:ext>
            </a:extLst>
          </p:cNvPr>
          <p:cNvSpPr txBox="1"/>
          <p:nvPr/>
        </p:nvSpPr>
        <p:spPr>
          <a:xfrm>
            <a:off x="7331659" y="627673"/>
            <a:ext cx="33391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u="sng" dirty="0"/>
              <a:t>User Management</a:t>
            </a:r>
            <a:endParaRPr lang="en-IN" sz="3200" b="1" u="sng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2FE2DF-C76F-4F86-A0AD-972C1297BB3A}"/>
              </a:ext>
            </a:extLst>
          </p:cNvPr>
          <p:cNvSpPr txBox="1"/>
          <p:nvPr/>
        </p:nvSpPr>
        <p:spPr>
          <a:xfrm>
            <a:off x="7331659" y="1987058"/>
            <a:ext cx="401153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Users can view and update their basic profile details such as username, email, name, and UPI ID. </a:t>
            </a:r>
          </a:p>
          <a:p>
            <a:endParaRPr lang="en-US" dirty="0"/>
          </a:p>
          <a:p>
            <a:r>
              <a:rPr lang="en-US" dirty="0"/>
              <a:t>This ensures accurate identity representation and supports seamless integration with payment systems and communication channels. </a:t>
            </a:r>
          </a:p>
          <a:p>
            <a:endParaRPr lang="en-US" dirty="0"/>
          </a:p>
          <a:p>
            <a:r>
              <a:rPr lang="en-US" dirty="0"/>
              <a:t>Keeping personal info up to date enhances user experience and system reliability.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C0FB66-F279-4A84-8328-02CE111ADFFA}"/>
              </a:ext>
            </a:extLst>
          </p:cNvPr>
          <p:cNvSpPr txBox="1"/>
          <p:nvPr/>
        </p:nvSpPr>
        <p:spPr>
          <a:xfrm>
            <a:off x="6781748" y="1409218"/>
            <a:ext cx="38890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/>
              <a:t>Personal Info Management</a:t>
            </a:r>
            <a:endParaRPr lang="en-IN" sz="1800" b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87FDCBF-A064-4BF9-85CB-9BA06F5757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3000"/>
            <a:ext cx="8356691" cy="4337017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perspectiveContrastingRightFacing">
              <a:rot lat="0" lon="18963666" rev="213211"/>
            </a:camera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1510917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7CA4AB6-0BE3-44B5-B1DB-50C184194F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4750" y="1047750"/>
            <a:ext cx="47625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8852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400</TotalTime>
  <Words>357</Words>
  <Application>Microsoft Office PowerPoint</Application>
  <PresentationFormat>Widescreen</PresentationFormat>
  <Paragraphs>52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Cambria</vt:lpstr>
      <vt:lpstr>fkGroteskNeue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Udhayarajan J</dc:creator>
  <cp:lastModifiedBy>Udhayarajan J</cp:lastModifiedBy>
  <cp:revision>11</cp:revision>
  <dcterms:created xsi:type="dcterms:W3CDTF">2025-11-29T06:21:36Z</dcterms:created>
  <dcterms:modified xsi:type="dcterms:W3CDTF">2025-11-29T13:01:49Z</dcterms:modified>
</cp:coreProperties>
</file>