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3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054BC-DB08-4DF9-BE81-C7AE76EC7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5F8B7-5691-4DF0-832D-75E7107F9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91B3B-40E6-4A47-B15B-334BFB58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182F3-3D6F-4271-90FF-194A4950F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36612-722F-45F8-B13B-70AB6949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70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DA5D0-350F-4328-901F-17ED5E72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FFAB1-9E17-4DB4-99E0-F0F450403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A7823-9CC9-44E5-BF96-F13CA44C2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4A28E-6FE4-44C5-9CF8-0AE9B887F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978A0-E875-4AC6-9E56-0CDC861D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3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3397-3C4D-4354-979C-A516B6A3E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7DF94-8157-4987-965F-D8918A959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7F598-6F58-4FC9-8A5F-C79EDEB8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B59BE-B7B6-47F1-B202-9180577D7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BC6D4-83A1-4FC7-9E54-84D14BFE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39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7F16-DE29-4DEA-9C54-5BAB4172D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48AD3-73D6-4C37-B28E-3339E9F51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9E931-9913-4B74-95FD-6DD742C30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1AFFA-ACE3-4F48-8F8C-966B31F41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C3173-9979-4B0D-BEDE-32C55466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CFCDC-B9F4-49D2-AD38-D2328E78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864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BCD0-A8C2-4042-A80A-35AA08608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3FE96-31B7-4334-8589-B4A3FA9A1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72592-38A3-4C5E-BD30-CCB79EC7E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3D043-FD1B-4F2C-9342-25EFCEC2C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81C10A-A086-4471-95A5-A48E7684D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4BE622-0679-49CF-AAC5-C8D7F8B0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3A9F6-063E-40C4-8908-02405050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68060-CACC-485E-ACA7-74C838AB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872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780E-E7C8-497A-9A5D-16EE83DE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1BF6B3-25E0-4E65-8AEE-B29F91EC6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767-1625-445A-B707-F2FAB0207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1E11D-7255-4C52-AC79-2207983A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893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B5AA6-A2F7-4580-A4E0-2C5A3CFC8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288A9-442B-45F3-B5BC-BABDF1D5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EF25C-377F-4149-BFAD-D6F34BF44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247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5B0C6-EB1B-465A-91EA-48DFFE8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3E1B-C6A8-4572-8EF2-E6FEFB9C0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A8A6E-E917-4179-BFF2-F31846400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12FC8-28D3-4448-86F5-C1649E7F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DD1C4-C243-4557-B34D-B03CBA7D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BBFE4-3251-44A8-9819-8D82A5A0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79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369A-83DA-4E89-B88E-A41EC37F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D63DF-E263-4805-87C6-89FCF3BF8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A6EE1-937B-4FAD-ACBB-DC08D33F3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C8090-A50A-4597-BD25-A81F38777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98339-65EB-4EDA-89F5-83275DA4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C0D52-7CFF-45AF-8200-57969ECA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02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D4F7-E039-4556-AE6C-44C6A456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5C4E6-71F4-46CF-A066-653B6BD9F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B252B-FD76-4644-9211-EC3733FA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739C6-94E0-49D4-9D04-27A82EE1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BEF3B-0B36-4AA0-86A1-AB0A0251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54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3B2CD-E21F-40FA-B6D6-D099C0BEC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4D19E-3FA0-4DDE-AA65-9D26AE095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0C4E1-8D86-49FE-A382-69995DDB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CCB78-E6C4-448D-9E59-C36F6612C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99A2A-4668-4AC8-9CA2-F8AFCFF3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28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84ECE-1226-4227-87BC-7FF01BEED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4CAE8-D521-4F96-8557-4D71E59D9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9FA80-D654-4255-A441-2C613032F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09384-52C2-4626-A5B7-29EFF2FDC138}" type="datetimeFigureOut">
              <a:rPr lang="en-IN" smtClean="0"/>
              <a:t>2025-10-30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DE51B-31CA-4F5A-8556-D796C96DD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56F6B-D2FC-4217-BE2B-F57AA940F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267B6-FE80-442B-BBF5-5567345EC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888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AM Cybersecurity: Identity &amp; Access Management In Cyber Security">
            <a:extLst>
              <a:ext uri="{FF2B5EF4-FFF2-40B4-BE49-F238E27FC236}">
                <a16:creationId xmlns:a16="http://schemas.microsoft.com/office/drawing/2014/main" id="{FCDE02FB-2AE6-458E-AC42-CE8E3FF4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506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3ABD12A-22D7-49A1-A917-6637B116F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026640"/>
              </p:ext>
            </p:extLst>
          </p:nvPr>
        </p:nvGraphicFramePr>
        <p:xfrm>
          <a:off x="-1" y="-1"/>
          <a:ext cx="12192000" cy="5065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01334084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5749377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849824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9509323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7320922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4147473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251822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7789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1203994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42502463"/>
                    </a:ext>
                  </a:extLst>
                </a:gridCol>
              </a:tblGrid>
              <a:tr h="63313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859326"/>
                  </a:ext>
                </a:extLst>
              </a:tr>
              <a:tr h="63313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013910"/>
                  </a:ext>
                </a:extLst>
              </a:tr>
              <a:tr h="63313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080328"/>
                  </a:ext>
                </a:extLst>
              </a:tr>
              <a:tr h="63313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384304"/>
                  </a:ext>
                </a:extLst>
              </a:tr>
              <a:tr h="63313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73811"/>
                  </a:ext>
                </a:extLst>
              </a:tr>
              <a:tr h="63313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44042"/>
                  </a:ext>
                </a:extLst>
              </a:tr>
              <a:tr h="63313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247850"/>
                  </a:ext>
                </a:extLst>
              </a:tr>
              <a:tr h="63313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8078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80A0B91-477B-48AC-9573-396E3181F825}"/>
              </a:ext>
            </a:extLst>
          </p:cNvPr>
          <p:cNvSpPr txBox="1"/>
          <p:nvPr/>
        </p:nvSpPr>
        <p:spPr>
          <a:xfrm>
            <a:off x="74645" y="5280498"/>
            <a:ext cx="12192000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/>
              <a:t>Cyber Security Awareness Program </a:t>
            </a:r>
          </a:p>
          <a:p>
            <a:pPr algn="ctr"/>
            <a:r>
              <a:rPr lang="en-US" sz="2800" b="1" dirty="0"/>
              <a:t>Research Project</a:t>
            </a:r>
          </a:p>
          <a:p>
            <a:pPr algn="ctr"/>
            <a:r>
              <a:rPr lang="en-US" sz="2800" b="1" dirty="0"/>
              <a:t>Zero Trust Identity Framework for Cloud Security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94939365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223264-82B4-4A84-B304-22EB4E1FFF2C}"/>
              </a:ext>
            </a:extLst>
          </p:cNvPr>
          <p:cNvSpPr/>
          <p:nvPr/>
        </p:nvSpPr>
        <p:spPr>
          <a:xfrm>
            <a:off x="0" y="0"/>
            <a:ext cx="466531" cy="6858000"/>
          </a:xfrm>
          <a:prstGeom prst="rect">
            <a:avLst/>
          </a:prstGeom>
          <a:solidFill>
            <a:srgbClr val="0F43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35BC9-FDEB-42B7-964B-0FA29303764C}"/>
              </a:ext>
            </a:extLst>
          </p:cNvPr>
          <p:cNvSpPr txBox="1"/>
          <p:nvPr/>
        </p:nvSpPr>
        <p:spPr>
          <a:xfrm>
            <a:off x="923363" y="394446"/>
            <a:ext cx="2061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AA3EF-C22F-4F5D-A050-CFE74A2B93D3}"/>
              </a:ext>
            </a:extLst>
          </p:cNvPr>
          <p:cNvSpPr txBox="1"/>
          <p:nvPr/>
        </p:nvSpPr>
        <p:spPr>
          <a:xfrm>
            <a:off x="923363" y="1206759"/>
            <a:ext cx="105066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Zero Trust</a:t>
            </a:r>
            <a:r>
              <a:rPr lang="en-US" dirty="0"/>
              <a:t> redefines this approach by assuming </a:t>
            </a:r>
            <a:r>
              <a:rPr lang="en-US" b="1" dirty="0"/>
              <a:t>Trust No One — Always Verify.</a:t>
            </a:r>
            <a:br>
              <a:rPr lang="en-US" dirty="0"/>
            </a:br>
            <a:r>
              <a:rPr lang="en-US" dirty="0"/>
              <a:t>It continuously verifies every user, device, and access request, regardless of 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Focus of the Research:</a:t>
            </a:r>
            <a:br>
              <a:rPr lang="en-US" dirty="0"/>
            </a:br>
            <a:r>
              <a:rPr lang="en-US" dirty="0"/>
              <a:t>This project explores how </a:t>
            </a:r>
            <a:r>
              <a:rPr lang="en-US" b="1" dirty="0"/>
              <a:t>Zero Trust principles</a:t>
            </a:r>
            <a:r>
              <a:rPr lang="en-US" dirty="0"/>
              <a:t> can strengthen </a:t>
            </a:r>
            <a:r>
              <a:rPr lang="en-US" b="1" dirty="0"/>
              <a:t>Identity and Access Management (IAM)</a:t>
            </a:r>
            <a:r>
              <a:rPr lang="en-US" dirty="0"/>
              <a:t> in </a:t>
            </a:r>
            <a:r>
              <a:rPr lang="en-US" b="1" dirty="0"/>
              <a:t>cloud environments</a:t>
            </a:r>
            <a:r>
              <a:rPr lang="en-US" dirty="0"/>
              <a:t> to protect against data breaches and unauthorized access.</a:t>
            </a:r>
          </a:p>
          <a:p>
            <a:endParaRPr lang="en-IN" dirty="0"/>
          </a:p>
        </p:txBody>
      </p:sp>
      <p:pic>
        <p:nvPicPr>
          <p:cNvPr id="2050" name="Picture 2" descr="Top 6 Cloud Security Trends in 2025">
            <a:extLst>
              <a:ext uri="{FF2B5EF4-FFF2-40B4-BE49-F238E27FC236}">
                <a16:creationId xmlns:a16="http://schemas.microsoft.com/office/drawing/2014/main" id="{C2CE72A7-4021-4A08-96FF-3BD2E64D4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015" y="3429000"/>
            <a:ext cx="2993373" cy="295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524261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084979-55FC-4928-8BBE-9C9670E116FA}"/>
              </a:ext>
            </a:extLst>
          </p:cNvPr>
          <p:cNvSpPr/>
          <p:nvPr/>
        </p:nvSpPr>
        <p:spPr>
          <a:xfrm>
            <a:off x="0" y="0"/>
            <a:ext cx="466531" cy="6858000"/>
          </a:xfrm>
          <a:prstGeom prst="rect">
            <a:avLst/>
          </a:prstGeom>
          <a:solidFill>
            <a:srgbClr val="0F43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40454-9822-4D18-B45D-1BE361683706}"/>
              </a:ext>
            </a:extLst>
          </p:cNvPr>
          <p:cNvSpPr txBox="1"/>
          <p:nvPr/>
        </p:nvSpPr>
        <p:spPr>
          <a:xfrm>
            <a:off x="923363" y="394446"/>
            <a:ext cx="2644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Cloud Security</a:t>
            </a:r>
          </a:p>
        </p:txBody>
      </p:sp>
      <p:pic>
        <p:nvPicPr>
          <p:cNvPr id="3074" name="Picture 2" descr="Cloud security of the LMC: LANCOM Systems GmbH">
            <a:extLst>
              <a:ext uri="{FF2B5EF4-FFF2-40B4-BE49-F238E27FC236}">
                <a16:creationId xmlns:a16="http://schemas.microsoft.com/office/drawing/2014/main" id="{23479612-C676-4A79-8475-A43381761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224" y="1433220"/>
            <a:ext cx="5544764" cy="3703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E2D0F3-ABD3-40BD-86CD-B207C5D2AC8E}"/>
              </a:ext>
            </a:extLst>
          </p:cNvPr>
          <p:cNvSpPr txBox="1"/>
          <p:nvPr/>
        </p:nvSpPr>
        <p:spPr>
          <a:xfrm>
            <a:off x="815788" y="157703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Cloud Security</a:t>
            </a:r>
            <a:r>
              <a:rPr lang="en-US" dirty="0"/>
              <a:t> involves protecting data, applications, and infrastructure hosted in the cloud from threats such as: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Unauthorized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leaks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Insider attacks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It follows a </a:t>
            </a:r>
            <a:r>
              <a:rPr lang="en-US" b="1" dirty="0"/>
              <a:t>shared responsibility model</a:t>
            </a:r>
            <a:r>
              <a:rPr lang="en-US" dirty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Cloud Provider:</a:t>
            </a:r>
            <a:r>
              <a:rPr lang="en-US" dirty="0"/>
              <a:t> Secures the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Customer:</a:t>
            </a:r>
            <a:r>
              <a:rPr lang="en-US" dirty="0"/>
              <a:t> Secures access, data, and identities</a:t>
            </a:r>
          </a:p>
        </p:txBody>
      </p:sp>
    </p:spTree>
    <p:extLst>
      <p:ext uri="{BB962C8B-B14F-4D97-AF65-F5344CB8AC3E}">
        <p14:creationId xmlns:p14="http://schemas.microsoft.com/office/powerpoint/2010/main" val="3410066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5AE940-96A2-4A32-9B06-029C3623F600}"/>
              </a:ext>
            </a:extLst>
          </p:cNvPr>
          <p:cNvSpPr/>
          <p:nvPr/>
        </p:nvSpPr>
        <p:spPr>
          <a:xfrm>
            <a:off x="0" y="0"/>
            <a:ext cx="466531" cy="6858000"/>
          </a:xfrm>
          <a:prstGeom prst="rect">
            <a:avLst/>
          </a:prstGeom>
          <a:solidFill>
            <a:srgbClr val="0F43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F950F-730C-4443-B8C8-C9C49B35847D}"/>
              </a:ext>
            </a:extLst>
          </p:cNvPr>
          <p:cNvSpPr txBox="1"/>
          <p:nvPr/>
        </p:nvSpPr>
        <p:spPr>
          <a:xfrm>
            <a:off x="923363" y="394446"/>
            <a:ext cx="3155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Zero Trust Security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AC25D-BFC0-438B-AE3E-A6502BC3309D}"/>
              </a:ext>
            </a:extLst>
          </p:cNvPr>
          <p:cNvSpPr txBox="1"/>
          <p:nvPr/>
        </p:nvSpPr>
        <p:spPr>
          <a:xfrm>
            <a:off x="923363" y="1448323"/>
            <a:ext cx="101839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Zero Trust</a:t>
            </a:r>
            <a:r>
              <a:rPr lang="en-US" dirty="0"/>
              <a:t> is a cybersecurity framework built on the principle of </a:t>
            </a:r>
            <a:r>
              <a:rPr lang="en-US" b="1" dirty="0"/>
              <a:t>Never Trust, Always Verify.</a:t>
            </a:r>
          </a:p>
          <a:p>
            <a:r>
              <a:rPr lang="en-US" dirty="0"/>
              <a:t>It means: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user or device is trusted automatically — inside or outside the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access request is verified continuously using strong authentication, authorization, and monitoring.</a:t>
            </a:r>
          </a:p>
          <a:p>
            <a:endParaRPr lang="en-US" b="1" dirty="0"/>
          </a:p>
          <a:p>
            <a:r>
              <a:rPr lang="en-US" b="1" dirty="0"/>
              <a:t>Core Principles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Verify Explicitly</a:t>
            </a:r>
            <a:r>
              <a:rPr lang="en-US" dirty="0"/>
              <a:t> – Authenticate and authorize based on all data points (identity, device, location).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Use Least Privilege Access</a:t>
            </a:r>
            <a:r>
              <a:rPr lang="en-US" dirty="0"/>
              <a:t> – Give users the minimal level of access needed.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Assume Breach</a:t>
            </a:r>
            <a:r>
              <a:rPr lang="en-US" dirty="0"/>
              <a:t> – Always monitor and prepare as if the network is already compromised.</a:t>
            </a:r>
          </a:p>
        </p:txBody>
      </p:sp>
    </p:spTree>
    <p:extLst>
      <p:ext uri="{BB962C8B-B14F-4D97-AF65-F5344CB8AC3E}">
        <p14:creationId xmlns:p14="http://schemas.microsoft.com/office/powerpoint/2010/main" val="3131879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19EF90-BB10-44BC-BFC0-A5C7F3C11BB0}"/>
              </a:ext>
            </a:extLst>
          </p:cNvPr>
          <p:cNvSpPr/>
          <p:nvPr/>
        </p:nvSpPr>
        <p:spPr>
          <a:xfrm>
            <a:off x="0" y="0"/>
            <a:ext cx="466531" cy="6858000"/>
          </a:xfrm>
          <a:prstGeom prst="rect">
            <a:avLst/>
          </a:prstGeom>
          <a:solidFill>
            <a:srgbClr val="0F43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3493A-BD91-4E69-B4FB-9EAC6FEE1D5A}"/>
              </a:ext>
            </a:extLst>
          </p:cNvPr>
          <p:cNvSpPr txBox="1"/>
          <p:nvPr/>
        </p:nvSpPr>
        <p:spPr>
          <a:xfrm>
            <a:off x="923362" y="394446"/>
            <a:ext cx="6320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Identity as the Foundation of Zero Trust</a:t>
            </a:r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30381C-4DB7-446B-B78E-BD3E57DE7B69}"/>
              </a:ext>
            </a:extLst>
          </p:cNvPr>
          <p:cNvSpPr txBox="1"/>
          <p:nvPr/>
        </p:nvSpPr>
        <p:spPr>
          <a:xfrm>
            <a:off x="923363" y="1448323"/>
            <a:ext cx="1018390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cloud environments, </a:t>
            </a:r>
            <a:r>
              <a:rPr lang="en-US" b="1" dirty="0"/>
              <a:t>identity is the new perimeter</a:t>
            </a:r>
            <a:r>
              <a:rPr lang="en-US" dirty="0"/>
              <a:t> — not firewalls.</a:t>
            </a:r>
          </a:p>
          <a:p>
            <a:endParaRPr lang="en-US" dirty="0"/>
          </a:p>
          <a:p>
            <a:r>
              <a:rPr lang="en-US" b="1" dirty="0"/>
              <a:t>Identity controls include: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Authentication:</a:t>
            </a:r>
            <a:r>
              <a:rPr lang="en-US" dirty="0"/>
              <a:t> Passwords, Biometrics, Multi-Factor Authentication (MFA)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Authorization:</a:t>
            </a:r>
            <a:r>
              <a:rPr lang="en-US" dirty="0"/>
              <a:t> Role-Based Access Control (RBAC), Policy-Based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Identity Federation:</a:t>
            </a:r>
            <a:r>
              <a:rPr lang="en-US" dirty="0"/>
              <a:t> Single Sign-On (SSO) across cloud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Privileged Access Management (PAM):</a:t>
            </a:r>
            <a:r>
              <a:rPr lang="en-US" dirty="0"/>
              <a:t> Protects admin and high-level accounts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Example: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When a user logs into a cloud service (like Microsoft Azure), Zero Trust checks: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identity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Device health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score (based on previous behavior)</a:t>
            </a:r>
          </a:p>
          <a:p>
            <a:r>
              <a:rPr lang="en-US" dirty="0"/>
              <a:t>Only if all checks pass, access is granted.</a:t>
            </a:r>
          </a:p>
        </p:txBody>
      </p:sp>
    </p:spTree>
    <p:extLst>
      <p:ext uri="{BB962C8B-B14F-4D97-AF65-F5344CB8AC3E}">
        <p14:creationId xmlns:p14="http://schemas.microsoft.com/office/powerpoint/2010/main" val="272935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843C45-C02E-4E20-B9BC-2CF1DBC26FE0}"/>
              </a:ext>
            </a:extLst>
          </p:cNvPr>
          <p:cNvSpPr/>
          <p:nvPr/>
        </p:nvSpPr>
        <p:spPr>
          <a:xfrm>
            <a:off x="0" y="0"/>
            <a:ext cx="466531" cy="6858000"/>
          </a:xfrm>
          <a:prstGeom prst="rect">
            <a:avLst/>
          </a:prstGeom>
          <a:solidFill>
            <a:srgbClr val="0F43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6DBFA-19FD-46CB-AD4E-5D3548DA47F7}"/>
              </a:ext>
            </a:extLst>
          </p:cNvPr>
          <p:cNvSpPr txBox="1"/>
          <p:nvPr/>
        </p:nvSpPr>
        <p:spPr>
          <a:xfrm>
            <a:off x="923363" y="394446"/>
            <a:ext cx="7395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Practical Zero Trust Habits for Everyday Users</a:t>
            </a:r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48DCF-414B-4709-8A0D-74EA136CADA0}"/>
              </a:ext>
            </a:extLst>
          </p:cNvPr>
          <p:cNvSpPr txBox="1"/>
          <p:nvPr/>
        </p:nvSpPr>
        <p:spPr>
          <a:xfrm>
            <a:off x="923363" y="1208667"/>
            <a:ext cx="858819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Zero Trust for Users (Identity &amp; Access Protection)</a:t>
            </a:r>
          </a:p>
          <a:p>
            <a:endParaRPr lang="en-US" dirty="0"/>
          </a:p>
          <a:p>
            <a:r>
              <a:rPr lang="en-US" b="1" dirty="0"/>
              <a:t>Identity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strong, unique passwords for each account.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 </a:t>
            </a:r>
            <a:r>
              <a:rPr lang="en-US" b="1" dirty="0"/>
              <a:t>password manager</a:t>
            </a:r>
            <a:r>
              <a:rPr lang="en-US" dirty="0"/>
              <a:t> (Bit warden, 1Password,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</a:t>
            </a:r>
            <a:r>
              <a:rPr lang="en-US" b="1" dirty="0"/>
              <a:t>MFA or biometric authentication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Never share login details — even with IT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b="1" dirty="0"/>
              <a:t>Cloud &amp; Data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 </a:t>
            </a:r>
            <a:r>
              <a:rPr lang="en-US" b="1" dirty="0"/>
              <a:t>who has permission</a:t>
            </a:r>
            <a:r>
              <a:rPr lang="en-US" dirty="0"/>
              <a:t> before sharing files (Google Drive, OneDrive, Azure).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 logging in from </a:t>
            </a:r>
            <a:r>
              <a:rPr lang="en-US" b="1" dirty="0"/>
              <a:t>public/shared devices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Always </a:t>
            </a:r>
            <a:r>
              <a:rPr lang="en-US" b="1" dirty="0"/>
              <a:t>sign out properly</a:t>
            </a:r>
            <a:r>
              <a:rPr lang="en-US" dirty="0"/>
              <a:t> from VPN or corporate networks.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💡 </a:t>
            </a:r>
            <a:r>
              <a:rPr lang="en-US" i="1" dirty="0"/>
              <a:t>Tip:</a:t>
            </a:r>
            <a:r>
              <a:rPr lang="en-US" dirty="0"/>
              <a:t> Identity is your first line of defense — protect it like your digital fingerprint.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11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AFE7110-2D72-48DB-8327-35D7A5BBBF5A}"/>
              </a:ext>
            </a:extLst>
          </p:cNvPr>
          <p:cNvSpPr/>
          <p:nvPr/>
        </p:nvSpPr>
        <p:spPr>
          <a:xfrm>
            <a:off x="0" y="0"/>
            <a:ext cx="466531" cy="6858000"/>
          </a:xfrm>
          <a:prstGeom prst="rect">
            <a:avLst/>
          </a:prstGeom>
          <a:solidFill>
            <a:srgbClr val="0F43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8347D9-4615-4583-8CB4-6E566FD7F686}"/>
              </a:ext>
            </a:extLst>
          </p:cNvPr>
          <p:cNvSpPr txBox="1"/>
          <p:nvPr/>
        </p:nvSpPr>
        <p:spPr>
          <a:xfrm>
            <a:off x="923363" y="394446"/>
            <a:ext cx="7395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Practical Zero Trust Habits for Everyday Users</a:t>
            </a:r>
            <a:endParaRPr lang="en-IN" sz="28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C7770F-52CB-4360-8134-A6A4269D902F}"/>
              </a:ext>
            </a:extLst>
          </p:cNvPr>
          <p:cNvSpPr txBox="1"/>
          <p:nvPr/>
        </p:nvSpPr>
        <p:spPr>
          <a:xfrm>
            <a:off x="923363" y="1152683"/>
            <a:ext cx="979751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Zero Trust for Users (</a:t>
            </a:r>
            <a:r>
              <a:rPr lang="en-IN" dirty="0"/>
              <a:t>Device &amp; Behaviour Security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1" dirty="0"/>
              <a:t>Device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all devices </a:t>
            </a:r>
            <a:r>
              <a:rPr lang="en-US" b="1" dirty="0"/>
              <a:t>patched and updated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apps only from </a:t>
            </a:r>
            <a:r>
              <a:rPr lang="en-US" b="1" dirty="0"/>
              <a:t>trusted sources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encryption</a:t>
            </a:r>
            <a:r>
              <a:rPr lang="en-US" dirty="0"/>
              <a:t> and </a:t>
            </a:r>
            <a:r>
              <a:rPr lang="en-US" b="1" dirty="0"/>
              <a:t>screen lock</a:t>
            </a:r>
            <a:r>
              <a:rPr lang="en-US" dirty="0"/>
              <a:t> on phones and laptops.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Awareness of Phishing &amp; Social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Don’t click suspicious links or attachments.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Always verify the sender through another channel.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Watch for red flags: </a:t>
            </a:r>
            <a:r>
              <a:rPr lang="en-US" b="1" dirty="0"/>
              <a:t>misspellings, fake domains, urgency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Continuous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Regularly check </a:t>
            </a:r>
            <a:r>
              <a:rPr lang="en-US" b="1" dirty="0"/>
              <a:t>logged-in devices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 out old or unused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 app permissions every few months.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i="1" dirty="0"/>
              <a:t>Remember:</a:t>
            </a:r>
            <a:r>
              <a:rPr lang="en-US" dirty="0"/>
              <a:t> Trust nothing, verify everything — that’s the Zero Trust mindset!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75339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127AE2-E030-4D47-B02C-834C5960530F}"/>
              </a:ext>
            </a:extLst>
          </p:cNvPr>
          <p:cNvSpPr/>
          <p:nvPr/>
        </p:nvSpPr>
        <p:spPr>
          <a:xfrm>
            <a:off x="0" y="0"/>
            <a:ext cx="466531" cy="6858000"/>
          </a:xfrm>
          <a:prstGeom prst="rect">
            <a:avLst/>
          </a:prstGeom>
          <a:solidFill>
            <a:srgbClr val="0F43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C533F-6348-4482-91C3-431FC5A5CC74}"/>
              </a:ext>
            </a:extLst>
          </p:cNvPr>
          <p:cNvSpPr txBox="1"/>
          <p:nvPr/>
        </p:nvSpPr>
        <p:spPr>
          <a:xfrm>
            <a:off x="923363" y="394446"/>
            <a:ext cx="3155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Expected Outcomes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FA7141-0802-4FB1-A300-FBB5D630AA53}"/>
              </a:ext>
            </a:extLst>
          </p:cNvPr>
          <p:cNvSpPr txBox="1"/>
          <p:nvPr/>
        </p:nvSpPr>
        <p:spPr>
          <a:xfrm>
            <a:off x="923363" y="1355956"/>
            <a:ext cx="93322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access control and reduced risk of identity theft.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awareness of Zero Trust principles in cloud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Framework to guide organizations transitioning from perimeter-based to Zero Trust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compliance with standards like ISO 27001, GDPR, and NIST 800-207.</a:t>
            </a:r>
          </a:p>
        </p:txBody>
      </p:sp>
    </p:spTree>
    <p:extLst>
      <p:ext uri="{BB962C8B-B14F-4D97-AF65-F5344CB8AC3E}">
        <p14:creationId xmlns:p14="http://schemas.microsoft.com/office/powerpoint/2010/main" val="15012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FEBE809-28AE-4D12-8925-9A739B341645}"/>
              </a:ext>
            </a:extLst>
          </p:cNvPr>
          <p:cNvSpPr/>
          <p:nvPr/>
        </p:nvSpPr>
        <p:spPr>
          <a:xfrm>
            <a:off x="0" y="0"/>
            <a:ext cx="466531" cy="6858000"/>
          </a:xfrm>
          <a:prstGeom prst="rect">
            <a:avLst/>
          </a:prstGeom>
          <a:solidFill>
            <a:srgbClr val="0F43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EB6A79-2EC0-4E21-A3DE-4870BA4DAF14}"/>
              </a:ext>
            </a:extLst>
          </p:cNvPr>
          <p:cNvSpPr txBox="1"/>
          <p:nvPr/>
        </p:nvSpPr>
        <p:spPr>
          <a:xfrm>
            <a:off x="923363" y="394446"/>
            <a:ext cx="3155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Conclusion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584386A-40F1-4886-B655-F200BB78F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363" y="1234941"/>
            <a:ext cx="1073880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 Trust is not a product — it’s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mindset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focusing on identity, continuous verification, and least privilege, organizations can secure their cloud environments against modern cyber threats.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 Zero Trust world, identity is the new firewall — protect it relentlessly.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48739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C8A0BB-EEF5-4F49-9A7D-CA1B57AB32CF}"/>
              </a:ext>
            </a:extLst>
          </p:cNvPr>
          <p:cNvSpPr/>
          <p:nvPr/>
        </p:nvSpPr>
        <p:spPr>
          <a:xfrm>
            <a:off x="0" y="0"/>
            <a:ext cx="466531" cy="6858000"/>
          </a:xfrm>
          <a:prstGeom prst="rect">
            <a:avLst/>
          </a:prstGeom>
          <a:solidFill>
            <a:srgbClr val="0F43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17642-DC0C-429B-A564-34B14063ADFB}"/>
              </a:ext>
            </a:extLst>
          </p:cNvPr>
          <p:cNvSpPr txBox="1"/>
          <p:nvPr/>
        </p:nvSpPr>
        <p:spPr>
          <a:xfrm>
            <a:off x="2707338" y="1846728"/>
            <a:ext cx="3567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Awareness Message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1ADC328-25D1-4908-82BE-3C194DF60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022" y="2950312"/>
            <a:ext cx="636494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 </a:t>
            </a: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strong, unique passwords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Enable multi-factor authentication</a:t>
            </a:r>
            <a:endParaRPr lang="en-US" altLang="en-US" dirty="0"/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 cautious with links and emails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Keep systems and devices updated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Remember: Security starts with you!</a:t>
            </a:r>
          </a:p>
        </p:txBody>
      </p:sp>
      <p:pic>
        <p:nvPicPr>
          <p:cNvPr id="8196" name="Picture 4" descr="hand pointing finger at you 17260371 Vector Art at Vecteezy">
            <a:extLst>
              <a:ext uri="{FF2B5EF4-FFF2-40B4-BE49-F238E27FC236}">
                <a16:creationId xmlns:a16="http://schemas.microsoft.com/office/drawing/2014/main" id="{E634E888-61B9-4D89-B1DD-239B0067B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808" y="2013501"/>
            <a:ext cx="3106271" cy="310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71619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2137AB-290E-4BED-A274-76B26A66A433}"/>
              </a:ext>
            </a:extLst>
          </p:cNvPr>
          <p:cNvSpPr/>
          <p:nvPr/>
        </p:nvSpPr>
        <p:spPr>
          <a:xfrm>
            <a:off x="0" y="3496235"/>
            <a:ext cx="12192000" cy="3361764"/>
          </a:xfrm>
          <a:prstGeom prst="rect">
            <a:avLst/>
          </a:prstGeom>
          <a:solidFill>
            <a:srgbClr val="0F437D"/>
          </a:solidFill>
          <a:ln cap="sq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218" name="Picture 2" descr="1,700+ Many Thanks Clip Art Stock Illustrations, Royalty-Free Vector  Graphics &amp; Clip Art - iStock">
            <a:extLst>
              <a:ext uri="{FF2B5EF4-FFF2-40B4-BE49-F238E27FC236}">
                <a16:creationId xmlns:a16="http://schemas.microsoft.com/office/drawing/2014/main" id="{83766C62-8E88-4F1B-B1D8-92546D0D5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804" y="1223402"/>
            <a:ext cx="8822392" cy="4411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36623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699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Udhayarajan J</dc:creator>
  <cp:lastModifiedBy>Udhayarajan J</cp:lastModifiedBy>
  <cp:revision>27</cp:revision>
  <dcterms:created xsi:type="dcterms:W3CDTF">2025-10-30T17:12:13Z</dcterms:created>
  <dcterms:modified xsi:type="dcterms:W3CDTF">2025-10-30T18:13:02Z</dcterms:modified>
</cp:coreProperties>
</file>